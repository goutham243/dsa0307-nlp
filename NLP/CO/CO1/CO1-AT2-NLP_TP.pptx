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1600200"/>
            <a:ext cx="9799320" cy="1598930"/>
          </a:xfrm>
        </p:spPr>
        <p:txBody>
          <a:bodyPr>
            <a:normAutofit/>
          </a:bodyPr>
          <a:p>
            <a:r>
              <a:rPr lang="en-US" altLang="en-US" sz="3500" b="1">
                <a:latin typeface="Times New Roman" panose="02020603050405020304" charset="0"/>
                <a:cs typeface="Times New Roman" panose="02020603050405020304" charset="0"/>
              </a:rPr>
              <a:t>Inflectional Morphology Understanding Grammatical Variations</a:t>
            </a:r>
            <a:endParaRPr lang="en-US" alt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262495" y="4779010"/>
            <a:ext cx="5302885" cy="1377950"/>
          </a:xfrm>
        </p:spPr>
        <p:txBody>
          <a:bodyPr>
            <a:normAutofit/>
          </a:bodyPr>
          <a:p>
            <a:pPr algn="l"/>
            <a:r>
              <a:rPr lang="en-IN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endParaRPr lang="en-I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IN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 Gouthamm(192472024)</a:t>
            </a:r>
            <a:endParaRPr lang="en-I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Freeform 10"/>
          <p:cNvSpPr/>
          <p:nvPr/>
        </p:nvSpPr>
        <p:spPr>
          <a:xfrm>
            <a:off x="167640" y="190500"/>
            <a:ext cx="3611880" cy="1047750"/>
          </a:xfrm>
          <a:custGeom>
            <a:avLst/>
            <a:gdLst/>
            <a:ahLst/>
            <a:cxnLst/>
            <a:rect l="l" t="t" r="r" b="b"/>
            <a:pathLst>
              <a:path w="6078191" h="1644838">
                <a:moveTo>
                  <a:pt x="0" y="0"/>
                </a:moveTo>
                <a:lnTo>
                  <a:pt x="6078191" y="0"/>
                </a:lnTo>
                <a:lnTo>
                  <a:pt x="6078191" y="1644838"/>
                </a:lnTo>
                <a:lnTo>
                  <a:pt x="0" y="1644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11"/>
          <p:cNvSpPr/>
          <p:nvPr/>
        </p:nvSpPr>
        <p:spPr>
          <a:xfrm>
            <a:off x="7802880" y="190500"/>
            <a:ext cx="4221480" cy="1047750"/>
          </a:xfrm>
          <a:custGeom>
            <a:avLst/>
            <a:gdLst/>
            <a:ahLst/>
            <a:cxnLst/>
            <a:rect l="l" t="t" r="r" b="b"/>
            <a:pathLst>
              <a:path w="6695160" h="1457450">
                <a:moveTo>
                  <a:pt x="0" y="0"/>
                </a:moveTo>
                <a:lnTo>
                  <a:pt x="6695160" y="0"/>
                </a:lnTo>
                <a:lnTo>
                  <a:pt x="6695160" y="1457449"/>
                </a:lnTo>
                <a:lnTo>
                  <a:pt x="0" y="1457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 Box 5"/>
          <p:cNvSpPr txBox="1"/>
          <p:nvPr/>
        </p:nvSpPr>
        <p:spPr>
          <a:xfrm>
            <a:off x="1072515" y="4686300"/>
            <a:ext cx="3676650" cy="1197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/>
              <a:t>Guided by</a:t>
            </a:r>
            <a:br>
              <a:rPr lang="en-IN" altLang="en-US"/>
            </a:br>
            <a:r>
              <a:rPr lang="en-IN" altLang="en-US"/>
              <a:t>Dr Anba</a:t>
            </a:r>
            <a:endParaRPr lang="en-IN" altLang="en-US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What is Morphology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Morphology is the branch of linguistics that studies how words are formed using smaller meaningful units called morphemes.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Morpheme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morpheme is the smallest unit of meaning in a language.</a:t>
            </a:r>
            <a:b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876935" y="3335020"/>
          <a:ext cx="9176385" cy="238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795"/>
                <a:gridCol w="3058795"/>
                <a:gridCol w="3058795"/>
              </a:tblGrid>
              <a:tr h="8566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Root Word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Modified Word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Morpheme Added</a:t>
                      </a:r>
                      <a:endParaRPr lang="en-US" altLang="en-US" sz="18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105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play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played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-ed</a:t>
                      </a:r>
                      <a:endParaRPr lang="en-US"/>
                    </a:p>
                  </a:txBody>
                  <a:tcPr/>
                </a:tc>
              </a:tr>
              <a:tr h="509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walk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walking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-ing</a:t>
                      </a:r>
                      <a:endParaRPr lang="en-US"/>
                    </a:p>
                  </a:txBody>
                  <a:tcPr/>
                </a:tc>
              </a:tr>
              <a:tr h="509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cat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cats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-s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What is Inflectional Morphology?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Definition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Inflectional Morphology changes the grammatical form of a word without changing its basic meaning or its part of speech.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Characteristics</a:t>
            </a:r>
            <a:r>
              <a:rPr lang="en-IN" altLang="en-US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Meaning remains the same.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Word category does not change.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Only grammatical information is added.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Types of Grammatical Variations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Inflectional morphology expresses different grammatical features.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804545" y="2414905"/>
          <a:ext cx="8534400" cy="2531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670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Type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Example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Purpose</a:t>
                      </a:r>
                      <a:endParaRPr lang="en-I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IN" altLang="en-US"/>
                        <a:t>Number</a:t>
                      </a:r>
                      <a:endParaRPr lang="en-I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book → books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Singular or plural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Tense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walk → walked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Time of action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Person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play → plays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Subject agreement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Degree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big → bigger → biggest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Compares the quality or quantity of something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Case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he → him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Grammatical role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Importance in Natural Language Processing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Inflectional Morphology helps computers recognize different forms of the same word.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Applications</a:t>
            </a:r>
            <a:r>
              <a:rPr lang="en-IN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: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Lemmatization: Converts words to their base form.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Stemming: Removes common suffixes.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Machine Translation: Produces grammatically correct translations.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Search Engines: Finds relevant results despite different word forms.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Chatbots &amp; Virtual Assistants: Better understand user queries.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Text Classification &amp; Sentiment Analysis: Improve language understanding.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Input Words: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run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running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runs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NLP identifies them as the same root word: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run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Applications &amp; Conclusion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Real-World Applications</a:t>
            </a:r>
            <a:r>
              <a:rPr lang="en-IN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: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Search Engines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Google Translate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ChatGPT and AI Assistants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Grammarly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IN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Inflectional Morphology studies grammatical changes in words.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 preserves the original meaning while expressing tense, number, person, or degree.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 is essential for NLP tasks such as lemmatization, machine translation, search, and conversational AI.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932430" y="1814195"/>
            <a:ext cx="6797040" cy="2054225"/>
          </a:xfrm>
        </p:spPr>
        <p:txBody>
          <a:bodyPr/>
          <a:p>
            <a:pPr marL="0" indent="0">
              <a:buNone/>
            </a:pPr>
            <a:r>
              <a:rPr lang="en-IN" altLang="en-US" sz="6000" b="1">
                <a:latin typeface="Times New Roman" panose="02020603050405020304" charset="0"/>
                <a:cs typeface="Times New Roman" panose="02020603050405020304" charset="0"/>
              </a:rPr>
              <a:t>THANK YOU..!</a:t>
            </a:r>
            <a:endParaRPr lang="en-IN" altLang="en-US" sz="6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1961</Words>
  <Application>WPS Presentation</Application>
  <PresentationFormat>Widescreen</PresentationFormat>
  <Paragraphs>113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gouth</dc:creator>
  <cp:lastModifiedBy>Natukula Goutham</cp:lastModifiedBy>
  <cp:revision>7</cp:revision>
  <dcterms:created xsi:type="dcterms:W3CDTF">2026-07-28T02:47:09Z</dcterms:created>
  <dcterms:modified xsi:type="dcterms:W3CDTF">2026-07-28T03:08:22Z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39F4591B14C44AF48DC695725DBBDCB1_11</vt:lpwstr>
  </property>
</Properties>
</file>